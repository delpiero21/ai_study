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</p:sldIdLst>
  <p:notesMasterIdLst>
    <p:notesMasterId r:id="rId21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notesMaster" Target="notesMasters/notesMaster1.xml"/><Relationship Id="rId22" Type="http://schemas.openxmlformats.org/officeDocument/2006/relationships/presProps" Target="presProps.xml"/><Relationship Id="rId23" Type="http://schemas.openxmlformats.org/officeDocument/2006/relationships/viewProps" Target="viewProps.xml"/><Relationship Id="rId24" Type="http://schemas.openxmlformats.org/officeDocument/2006/relationships/theme" Target="theme/theme1.xml"/><Relationship Id="rId25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2286000"/>
            <a:ext cx="10515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spc="300" kern="0" dirty="0">
                <a:solidFill>
                  <a:srgbClr val="0B728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MODEL CONTEXT PROTOCOL</a:t>
            </a:r>
            <a:endParaRPr lang="en-US" sz="1500" dirty="0"/>
          </a:p>
        </p:txBody>
      </p:sp>
      <p:sp>
        <p:nvSpPr>
          <p:cNvPr id="3" name="Text 1"/>
          <p:cNvSpPr/>
          <p:nvPr/>
        </p:nvSpPr>
        <p:spPr>
          <a:xfrm>
            <a:off x="822960" y="2788920"/>
            <a:ext cx="10515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600" b="1" dirty="0">
                <a:solidFill>
                  <a:srgbClr val="1F29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MCP 핵심 정리</a:t>
            </a:r>
            <a:endParaRPr lang="en-US" sz="4600" dirty="0"/>
          </a:p>
        </p:txBody>
      </p:sp>
      <p:sp>
        <p:nvSpPr>
          <p:cNvPr id="4" name="Text 2"/>
          <p:cNvSpPr/>
          <p:nvPr/>
        </p:nvSpPr>
        <p:spPr>
          <a:xfrm>
            <a:off x="822960" y="3840480"/>
            <a:ext cx="10515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3E4C5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공식 문서 기준으로 정리한 개념·구조·활용·보안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822960" y="6035040"/>
            <a:ext cx="10515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7B879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출처: modelcontextprotocol.io/docs/getting-started/intro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5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10972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B728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PART 1 · MCP의 탄생과 이해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41248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F29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왜 MCP가 필요한가?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822960" y="1920240"/>
            <a:ext cx="10698480" cy="3200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203200" indent="-203200">
              <a:lnSpc>
                <a:spcPct val="105000"/>
              </a:lnSpc>
              <a:spcAft>
                <a:spcPts val="1600"/>
              </a:spcAft>
              <a:buSzPct val="100000"/>
              <a:buChar char="–"/>
            </a:pPr>
            <a:r>
              <a:rPr lang="en-US" sz="1600" dirty="0">
                <a:solidFill>
                  <a:srgbClr val="3E4C5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지금까지: LLM에 프롬프트로 질문하거나, 파일·이미지를 직접 업로드하는 것이 전부였다.</a:t>
            </a:r>
            <a:endParaRPr lang="en-US" sz="1600" dirty="0"/>
          </a:p>
          <a:p>
            <a:pPr marL="203200" indent="-203200">
              <a:lnSpc>
                <a:spcPct val="105000"/>
              </a:lnSpc>
              <a:spcAft>
                <a:spcPts val="1600"/>
              </a:spcAft>
              <a:buSzPct val="100000"/>
              <a:buChar char="–"/>
            </a:pPr>
            <a:r>
              <a:rPr lang="en-US" sz="1600" dirty="0">
                <a:solidFill>
                  <a:srgbClr val="3E4C5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한계: 매번 사람이 자료를 넣어줘야 하고, 외부 도구·데이터와는 연결되지 않는다.</a:t>
            </a:r>
            <a:endParaRPr lang="en-US" sz="1600" dirty="0"/>
          </a:p>
          <a:p>
            <a:pPr marL="203200" indent="-203200">
              <a:lnSpc>
                <a:spcPct val="105000"/>
              </a:lnSpc>
              <a:spcAft>
                <a:spcPts val="1600"/>
              </a:spcAft>
              <a:buSzPct val="100000"/>
              <a:buChar char="–"/>
            </a:pPr>
            <a:r>
              <a:rPr lang="en-US" sz="1600" dirty="0">
                <a:solidFill>
                  <a:srgbClr val="3E4C5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질문: AI가 내 캘린더·Notion·DB에 직접 연결될 수는 없을까?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822960" y="4480560"/>
            <a:ext cx="10698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B728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→ 이 연결을 표준화한 것이 MCP.</a:t>
            </a:r>
            <a:endParaRPr lang="en-US" sz="17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10972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B728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정의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41248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F29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MCP란 무엇인가?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822960" y="1920240"/>
            <a:ext cx="10698480" cy="3200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203200" indent="-203200">
              <a:lnSpc>
                <a:spcPct val="105000"/>
              </a:lnSpc>
              <a:spcAft>
                <a:spcPts val="1600"/>
              </a:spcAft>
              <a:buSzPct val="100000"/>
              <a:buChar char="–"/>
            </a:pPr>
            <a:r>
              <a:rPr lang="en-US" sz="1600" dirty="0">
                <a:solidFill>
                  <a:srgbClr val="3E4C5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MCP(Model Context Protocol) = AI 애플리케이션을 외부 시스템에 연결하는 오픈소스 표준.</a:t>
            </a:r>
            <a:endParaRPr lang="en-US" sz="1600" dirty="0"/>
          </a:p>
          <a:p>
            <a:pPr marL="203200" indent="-203200">
              <a:lnSpc>
                <a:spcPct val="105000"/>
              </a:lnSpc>
              <a:spcAft>
                <a:spcPts val="1600"/>
              </a:spcAft>
              <a:buSzPct val="100000"/>
              <a:buChar char="–"/>
            </a:pPr>
            <a:r>
              <a:rPr lang="en-US" sz="1600" dirty="0">
                <a:solidFill>
                  <a:srgbClr val="3E4C5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연결 대상: 데이터 소스(파일·DB) · 도구(검색·계산) · 워크플로(특화 프롬프트).</a:t>
            </a:r>
            <a:endParaRPr lang="en-US" sz="1600" dirty="0"/>
          </a:p>
          <a:p>
            <a:pPr marL="203200" indent="-203200">
              <a:lnSpc>
                <a:spcPct val="105000"/>
              </a:lnSpc>
              <a:spcAft>
                <a:spcPts val="1600"/>
              </a:spcAft>
              <a:buSzPct val="100000"/>
              <a:buChar char="–"/>
            </a:pPr>
            <a:r>
              <a:rPr lang="en-US" sz="1600" dirty="0">
                <a:solidFill>
                  <a:srgbClr val="3E4C5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비유: "AI 애플리케이션을 위한 USB-C 포트" — 표준 하나로 어디에나 연결한다.</a:t>
            </a:r>
            <a:endParaRPr lang="en-US" sz="16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10972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B728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이름 뜯어보기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41248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F29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Model · Context · Protocol</a:t>
            </a:r>
            <a:endParaRPr lang="en-US" sz="2800" dirty="0"/>
          </a:p>
        </p:txBody>
      </p:sp>
      <p:graphicFrame>
        <p:nvGraphicFramePr>
          <p:cNvPr id="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822960" y="2011680"/>
          <a:ext cx="10515600" cy="914400"/>
        </p:xfrm>
        <a:graphic>
          <a:graphicData uri="http://schemas.openxmlformats.org/drawingml/2006/table">
            <a:tbl>
              <a:tblPr/>
              <a:tblGrid>
                <a:gridCol w="2194560"/>
                <a:gridCol w="8321040"/>
              </a:tblGrid>
              <a:tr h="9144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1F29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Model</a:t>
                      </a:r>
                      <a:endParaRPr lang="en-US" sz="14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27000" marR="127000" marT="76200" marB="7620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3E4C59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AI 언어 모델(LLM) — 예: Claude, GPT, Gemini</a:t>
                      </a:r>
                      <a:endParaRPr lang="en-US" sz="14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27000" marR="127000" marT="76200" marB="7620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9144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1F29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Context</a:t>
                      </a:r>
                      <a:endParaRPr lang="en-US" sz="14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27000" marR="127000" marT="76200" marB="7620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3E4C59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모델이 작업에 필요한 배경정보·환경 (데이터, 도구, 작업 상태, 리소스)</a:t>
                      </a:r>
                      <a:endParaRPr lang="en-US" sz="14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27000" marR="127000" marT="76200" marB="7620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9144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1F29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Protocol</a:t>
                      </a:r>
                      <a:endParaRPr lang="en-US" sz="14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27000" marR="127000" marT="76200" marB="7620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3E4C59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표준화된 통신 규칙과 절차</a:t>
                      </a:r>
                      <a:endParaRPr lang="en-US" sz="14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27000" marR="127000" marT="76200" marB="7620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10972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B728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등장 배경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41248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F29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왜 표준이 필요했나 — N×M 문제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822960" y="1920240"/>
            <a:ext cx="10698480" cy="3200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203200" indent="-203200">
              <a:lnSpc>
                <a:spcPct val="105000"/>
              </a:lnSpc>
              <a:spcAft>
                <a:spcPts val="1600"/>
              </a:spcAft>
              <a:buSzPct val="100000"/>
              <a:buChar char="–"/>
            </a:pPr>
            <a:r>
              <a:rPr lang="en-US" sz="1600" dirty="0">
                <a:solidFill>
                  <a:srgbClr val="3E4C5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표준 전: M개 LLM × N개 도구 = M×N개의 개별 연동을 각각 구현해야 했다.</a:t>
            </a:r>
            <a:endParaRPr lang="en-US" sz="1600" dirty="0"/>
          </a:p>
          <a:p>
            <a:pPr marL="203200" indent="-203200">
              <a:lnSpc>
                <a:spcPct val="105000"/>
              </a:lnSpc>
              <a:spcAft>
                <a:spcPts val="1600"/>
              </a:spcAft>
              <a:buSzPct val="100000"/>
              <a:buChar char="–"/>
            </a:pPr>
            <a:r>
              <a:rPr lang="en-US" sz="1600" dirty="0">
                <a:solidFill>
                  <a:srgbClr val="3E4C5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서비스마다 도구 스키마·함수를 직접 작성·유지 → 유지보수 부담이 폭발.</a:t>
            </a:r>
            <a:endParaRPr lang="en-US" sz="1600" dirty="0"/>
          </a:p>
          <a:p>
            <a:pPr marL="203200" indent="-203200">
              <a:lnSpc>
                <a:spcPct val="105000"/>
              </a:lnSpc>
              <a:spcAft>
                <a:spcPts val="1600"/>
              </a:spcAft>
              <a:buSzPct val="100000"/>
              <a:buChar char="–"/>
            </a:pPr>
            <a:r>
              <a:rPr lang="en-US" sz="1600" dirty="0">
                <a:solidFill>
                  <a:srgbClr val="3E4C5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MCP 이후: 한 번 만들면 어디서나 재사용 (N+M).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822960" y="4480560"/>
            <a:ext cx="10698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B728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"build once, integrate everywhere" — 한 번 만들면 어디서나 통합.</a:t>
            </a:r>
            <a:endParaRPr lang="en-US" sz="17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10972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B728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타임라인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41248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F29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MCP의 등장과 확산</a:t>
            </a:r>
            <a:endParaRPr lang="en-US" sz="2800" dirty="0"/>
          </a:p>
        </p:txBody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822960" y="2011680"/>
          <a:ext cx="10515600" cy="914400"/>
        </p:xfrm>
        <a:graphic>
          <a:graphicData uri="http://schemas.openxmlformats.org/drawingml/2006/table">
            <a:tbl>
              <a:tblPr/>
              <a:tblGrid>
                <a:gridCol w="1645920"/>
                <a:gridCol w="8869680"/>
              </a:tblGrid>
              <a:tr h="9144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1F29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2024.11</a:t>
                      </a:r>
                      <a:endParaRPr lang="en-US" sz="14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27000" marR="127000" marT="76200" marB="7620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3E4C59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Anthropic이 MCP를 오픈소스로 공개 (개발자 커뮤니티의 실제 니즈 반영)</a:t>
                      </a:r>
                      <a:endParaRPr lang="en-US" sz="14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27000" marR="127000" marT="76200" marB="7620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9144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1F29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2025</a:t>
                      </a:r>
                      <a:endParaRPr lang="en-US" sz="14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27000" marR="127000" marT="76200" marB="7620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3E4C59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OpenAI · Google · Microsoft 등 주요 AI 기업이 잇따라 채택</a:t>
                      </a:r>
                      <a:endParaRPr lang="en-US" sz="14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27000" marR="127000" marT="76200" marB="7620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9144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1F29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현재</a:t>
                      </a:r>
                      <a:endParaRPr lang="en-US" sz="14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27000" marR="127000" marT="76200" marB="7620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3E4C59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Claude · ChatGPT · VS Code · Cursor 등 폭넓게 지원</a:t>
                      </a:r>
                      <a:endParaRPr lang="en-US" sz="14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27000" marR="127000" marT="76200" marB="7620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822960" y="5120640"/>
            <a:ext cx="10698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B728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→ 특정 회사의 기술이 아니라 업계 공통 표준으로 자리잡음.</a:t>
            </a:r>
            <a:endParaRPr lang="en-US" sz="16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10972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B728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무엇이 달라졌나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41248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F29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MCP 이전 vs 이후</a:t>
            </a:r>
            <a:endParaRPr lang="en-US" sz="2800" dirty="0"/>
          </a:p>
        </p:txBody>
      </p:sp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822960" y="2011680"/>
          <a:ext cx="10515600" cy="914400"/>
        </p:xfrm>
        <a:graphic>
          <a:graphicData uri="http://schemas.openxmlformats.org/drawingml/2006/table">
            <a:tbl>
              <a:tblPr/>
              <a:tblGrid>
                <a:gridCol w="5257800"/>
                <a:gridCol w="5257800"/>
              </a:tblGrid>
              <a:tr h="54864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1F29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MCP 이전 (복잡)</a:t>
                      </a:r>
                      <a:endParaRPr lang="en-US" sz="14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27000" marR="127000" marT="76200" marB="7620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1F29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MCP 이후 (단순)</a:t>
                      </a:r>
                      <a:endParaRPr lang="en-US" sz="14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27000" marR="127000" marT="76200" marB="7620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8"/>
                    </a:solidFill>
                  </a:tcPr>
                </a:tc>
              </a:tr>
              <a:tr h="24688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3E4C59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① DB 연결 함수 작성</a:t>
                      </a:r>
                      <a:endParaRPr lang="en-US" sz="14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3E4C59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② 쿼리 생성 함수 작성</a:t>
                      </a:r>
                      <a:endParaRPr lang="en-US" sz="14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3E4C59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③ 결과 포맷 함수 작성</a:t>
                      </a:r>
                      <a:endParaRPr lang="en-US" sz="14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3E4C59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④ 에러 핸들링 구현</a:t>
                      </a:r>
                      <a:endParaRPr lang="en-US" sz="14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3E4C59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⑤ AI 도구별로 각각 설정</a:t>
                      </a:r>
                      <a:endParaRPr lang="en-US" sz="14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27000" marR="127000" marT="76200" marB="7620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3E4C59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MCP 서버 연결 한 번으로 끝</a:t>
                      </a:r>
                      <a:endParaRPr lang="en-US" sz="14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  <a:p>
                      <a:pPr indent="0" marL="0">
                        <a:buNone/>
                      </a:pPr>
                      <a:endParaRPr lang="en-US" sz="14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3E4C59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"지난 주 가장 많이 팔린</a:t>
                      </a:r>
                      <a:endParaRPr lang="en-US" sz="14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3E4C59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상품 10개 보여줘"</a:t>
                      </a:r>
                      <a:endParaRPr lang="en-US" sz="14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27000" marR="127000" marT="76200" marB="7620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5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10972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B728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PART 2 · 아키텍처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41248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F29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MCP의 3요소</a:t>
            </a:r>
            <a:endParaRPr lang="en-US" sz="2800" dirty="0"/>
          </a:p>
        </p:txBody>
      </p:sp>
      <p:graphicFrame>
        <p:nvGraphicFramePr>
          <p:cNvPr id="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822960" y="2011680"/>
          <a:ext cx="10515600" cy="914400"/>
        </p:xfrm>
        <a:graphic>
          <a:graphicData uri="http://schemas.openxmlformats.org/drawingml/2006/table">
            <a:tbl>
              <a:tblPr/>
              <a:tblGrid>
                <a:gridCol w="2377440"/>
                <a:gridCol w="8138160"/>
              </a:tblGrid>
              <a:tr h="8686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1F29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MCP Host</a:t>
                      </a:r>
                      <a:endParaRPr lang="en-US" sz="14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27000" marR="127000" marT="76200" marB="7620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3E4C59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사용자와 LLM을 담은 앱 본체 (지휘관)</a:t>
                      </a:r>
                      <a:endParaRPr lang="en-US" sz="14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27000" marR="127000" marT="76200" marB="7620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8686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1F29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MCP Client</a:t>
                      </a:r>
                      <a:endParaRPr lang="en-US" sz="14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27000" marR="127000" marT="76200" marB="7620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3E4C59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Host 안에서 서버와 1:1로 통신하는 중개자</a:t>
                      </a:r>
                      <a:endParaRPr lang="en-US" sz="14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27000" marR="127000" marT="76200" marB="7620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8686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1F29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MCP Server</a:t>
                      </a:r>
                      <a:endParaRPr lang="en-US" sz="14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27000" marR="127000" marT="76200" marB="7620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3E4C59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도구·데이터를 제공하는 쪽</a:t>
                      </a:r>
                      <a:endParaRPr lang="en-US" sz="14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27000" marR="127000" marT="76200" marB="7620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822960" y="5029200"/>
            <a:ext cx="10698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B728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관계:  Host ⊃ Client  →(통신)→  Server</a:t>
            </a:r>
            <a:endParaRPr lang="en-US" sz="17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10972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B728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① MCP HOST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41248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F29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MCP Host — 지휘관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822960" y="1920240"/>
            <a:ext cx="10698480" cy="3200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203200" indent="-203200">
              <a:lnSpc>
                <a:spcPct val="105000"/>
              </a:lnSpc>
              <a:spcAft>
                <a:spcPts val="1600"/>
              </a:spcAft>
              <a:buSzPct val="100000"/>
              <a:buChar char="–"/>
            </a:pPr>
            <a:r>
              <a:rPr lang="en-US" sz="1600" dirty="0">
                <a:solidFill>
                  <a:srgbClr val="3E4C5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모든 것을 결정하는 앱 본체. LLM을 품고 있다.</a:t>
            </a:r>
            <a:endParaRPr lang="en-US" sz="1600" dirty="0"/>
          </a:p>
          <a:p>
            <a:pPr marL="203200" indent="-203200">
              <a:lnSpc>
                <a:spcPct val="105000"/>
              </a:lnSpc>
              <a:spcAft>
                <a:spcPts val="1600"/>
              </a:spcAft>
              <a:buSzPct val="100000"/>
              <a:buChar char="–"/>
            </a:pPr>
            <a:r>
              <a:rPr lang="en-US" sz="1600" dirty="0">
                <a:solidFill>
                  <a:srgbClr val="3E4C5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사용자 요청 이해·분석 → 필요한 도구 결정 → 작업 계획 수립 → 최종 응답 생성.</a:t>
            </a:r>
            <a:endParaRPr lang="en-US" sz="1600" dirty="0"/>
          </a:p>
          <a:p>
            <a:pPr marL="203200" indent="-203200">
              <a:lnSpc>
                <a:spcPct val="105000"/>
              </a:lnSpc>
              <a:spcAft>
                <a:spcPts val="1600"/>
              </a:spcAft>
              <a:buSzPct val="100000"/>
              <a:buChar char="–"/>
            </a:pPr>
            <a:r>
              <a:rPr lang="en-US" sz="1600" dirty="0">
                <a:solidFill>
                  <a:srgbClr val="3E4C5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예: Claude Desktop, Cursor.</a:t>
            </a:r>
            <a:endParaRPr lang="en-US" sz="16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10972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B728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② MCP CLIENT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41248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F29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MCP Client — 중개자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822960" y="1920240"/>
            <a:ext cx="10698480" cy="3200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203200" indent="-203200">
              <a:lnSpc>
                <a:spcPct val="105000"/>
              </a:lnSpc>
              <a:spcAft>
                <a:spcPts val="1300"/>
              </a:spcAft>
              <a:buSzPct val="100000"/>
              <a:buChar char="–"/>
            </a:pPr>
            <a:r>
              <a:rPr lang="en-US" sz="1600" dirty="0">
                <a:solidFill>
                  <a:srgbClr val="3E4C5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Host와 Server 사이를 잇는 커넥터.</a:t>
            </a:r>
            <a:endParaRPr lang="en-US" sz="1600" dirty="0"/>
          </a:p>
          <a:p>
            <a:pPr marL="203200" indent="-203200">
              <a:lnSpc>
                <a:spcPct val="105000"/>
              </a:lnSpc>
              <a:spcAft>
                <a:spcPts val="1300"/>
              </a:spcAft>
              <a:buSzPct val="100000"/>
              <a:buChar char="–"/>
            </a:pPr>
            <a:r>
              <a:rPr lang="en-US" sz="1600" dirty="0">
                <a:solidFill>
                  <a:srgbClr val="3E4C5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각 MCP 서버와 1:1 연결을 유지한다.</a:t>
            </a:r>
            <a:endParaRPr lang="en-US" sz="1600" dirty="0"/>
          </a:p>
          <a:p>
            <a:pPr marL="203200" indent="-203200">
              <a:lnSpc>
                <a:spcPct val="105000"/>
              </a:lnSpc>
              <a:spcAft>
                <a:spcPts val="1300"/>
              </a:spcAft>
              <a:buSzPct val="100000"/>
              <a:buChar char="–"/>
            </a:pPr>
            <a:r>
              <a:rPr lang="en-US" sz="1600" dirty="0">
                <a:solidFill>
                  <a:srgbClr val="3E4C5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Host 애플리케이션 안에서 실행 — 별도 앱이 아니라 Host의 부품.</a:t>
            </a:r>
            <a:endParaRPr lang="en-US" sz="1600" dirty="0"/>
          </a:p>
          <a:p>
            <a:pPr marL="203200" indent="-203200">
              <a:lnSpc>
                <a:spcPct val="105000"/>
              </a:lnSpc>
              <a:spcAft>
                <a:spcPts val="1300"/>
              </a:spcAft>
              <a:buSzPct val="100000"/>
              <a:buChar char="–"/>
            </a:pPr>
            <a:r>
              <a:rPr lang="en-US" sz="1600" dirty="0">
                <a:solidFill>
                  <a:srgbClr val="3E4C5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도구를 직접 실행하지 않고 통신만 중개한다.</a:t>
            </a:r>
            <a:endParaRPr lang="en-US" sz="16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10972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B728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③ MCP SERVER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41248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F29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MCP Server — 실제 도구 제공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822960" y="1783080"/>
            <a:ext cx="10698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3E4C5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외부 데이터·도구를 MCP 표준에 맞게 노출한다. 예: GitHub MCP, Notion MCP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822960" y="2377440"/>
            <a:ext cx="10698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29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서버가 제공하는 3대 프리미티브</a:t>
            </a:r>
            <a:endParaRPr lang="en-US" sz="1600" dirty="0"/>
          </a:p>
        </p:txBody>
      </p:sp>
      <p:graphicFrame>
        <p:nvGraphicFramePr>
          <p:cNvPr id="1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822960" y="2834640"/>
          <a:ext cx="10515600" cy="914400"/>
        </p:xfrm>
        <a:graphic>
          <a:graphicData uri="http://schemas.openxmlformats.org/drawingml/2006/table">
            <a:tbl>
              <a:tblPr/>
              <a:tblGrid>
                <a:gridCol w="2011680"/>
                <a:gridCol w="2011680"/>
                <a:gridCol w="6492240"/>
              </a:tblGrid>
              <a:tr h="8686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1F29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Tools</a:t>
                      </a:r>
                      <a:endParaRPr lang="en-US" sz="14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27000" marR="127000" marT="76200" marB="7620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3E4C59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실행 (도구)</a:t>
                      </a:r>
                      <a:endParaRPr lang="en-US" sz="14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27000" marR="127000" marT="76200" marB="7620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3E4C59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API 호출·데이터 변환 — 모델(LLM)이 호출</a:t>
                      </a:r>
                      <a:endParaRPr lang="en-US" sz="14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27000" marR="127000" marT="76200" marB="7620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8686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1F29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Resources</a:t>
                      </a:r>
                      <a:endParaRPr lang="en-US" sz="14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27000" marR="127000" marT="76200" marB="7620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3E4C59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읽기 (자료)</a:t>
                      </a:r>
                      <a:endParaRPr lang="en-US" sz="14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27000" marR="127000" marT="76200" marB="7620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3E4C59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파일·DB·웹 내용 — 앱이 가져와 컨텍스트로</a:t>
                      </a:r>
                      <a:endParaRPr lang="en-US" sz="14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27000" marR="127000" marT="76200" marB="7620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8686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1F29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Prompts</a:t>
                      </a:r>
                      <a:endParaRPr lang="en-US" sz="14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27000" marR="127000" marT="76200" marB="7620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3E4C59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템플릿</a:t>
                      </a:r>
                      <a:endParaRPr lang="en-US" sz="14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27000" marR="127000" marT="76200" marB="7620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3E4C59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미리 정의된 명령·워크플로 — 사용자가 호출</a:t>
                      </a:r>
                      <a:endParaRPr lang="en-US" sz="14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27000" marR="127000" marT="76200" marB="7620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10972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B728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통신 방식 (TRANSPORT)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41248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F29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MCP 전송 방식 — 2가지</a:t>
            </a:r>
            <a:endParaRPr lang="en-US" sz="2800" dirty="0"/>
          </a:p>
        </p:txBody>
      </p:sp>
      <p:graphicFrame>
        <p:nvGraphicFramePr>
          <p:cNvPr id="1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822960" y="2011680"/>
          <a:ext cx="10515600" cy="914400"/>
        </p:xfrm>
        <a:graphic>
          <a:graphicData uri="http://schemas.openxmlformats.org/drawingml/2006/table">
            <a:tbl>
              <a:tblPr/>
              <a:tblGrid>
                <a:gridCol w="2103120"/>
                <a:gridCol w="8412480"/>
              </a:tblGrid>
              <a:tr h="12344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1F29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stdio</a:t>
                      </a:r>
                      <a:endParaRPr lang="en-US" sz="14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27000" marR="127000" marT="76200" marB="7620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3E4C59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표준 입출력. 같은 PC의 로컬 서버와 1:1 직접 통신, 가장 단순.</a:t>
                      </a:r>
                      <a:endParaRPr lang="en-US" sz="14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3E4C59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예) Claude Desktop이 로컬 파일 시스템에 접근</a:t>
                      </a:r>
                      <a:endParaRPr lang="en-US" sz="14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27000" marR="127000" marT="76200" marB="7620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2344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1F29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Streamable</a:t>
                      </a:r>
                      <a:endParaRPr lang="en-US" sz="14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1F29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HTTP</a:t>
                      </a:r>
                      <a:endParaRPr lang="en-US" sz="14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27000" marR="127000" marT="76200" marB="7620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3E4C59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원격 서버와 HTTP로 통신. 필요 시 SSE로 응답을 스트리밍.</a:t>
                      </a:r>
                      <a:endParaRPr lang="en-US" sz="14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3E4C59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예) 인터넷 너머의 원격 MCP 서버</a:t>
                      </a:r>
                      <a:endParaRPr lang="en-US" sz="14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27000" marR="127000" marT="76200" marB="7620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822960" y="5029200"/>
            <a:ext cx="106984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400" i="1" dirty="0">
                <a:solidFill>
                  <a:srgbClr val="7B879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참고: 예전의 'HTTP+SSE 단독' 방식은 구버전(deprecated)으로, 지금은 Streamable HTTP로 통합됨. WebSocket은 공식 표준 전송 방식이 아니다.</a:t>
            </a:r>
            <a:endParaRPr lang="en-US" sz="14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5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10972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B728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PART 3 · 활용과 한계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41248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F29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MCP로 할 수 있는 일 vs 없는 일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822960" y="2103120"/>
            <a:ext cx="10698480" cy="3200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203200" indent="-203200">
              <a:lnSpc>
                <a:spcPct val="105000"/>
              </a:lnSpc>
              <a:spcAft>
                <a:spcPts val="1600"/>
              </a:spcAft>
              <a:buSzPct val="100000"/>
              <a:buChar char="–"/>
            </a:pPr>
            <a:r>
              <a:rPr lang="en-US" sz="1800" dirty="0">
                <a:solidFill>
                  <a:srgbClr val="3E4C5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MCP는 만능이 아니다.</a:t>
            </a:r>
            <a:endParaRPr lang="en-US" sz="1800" dirty="0"/>
          </a:p>
          <a:p>
            <a:pPr marL="203200" indent="-203200">
              <a:lnSpc>
                <a:spcPct val="105000"/>
              </a:lnSpc>
              <a:spcAft>
                <a:spcPts val="1600"/>
              </a:spcAft>
              <a:buSzPct val="100000"/>
              <a:buChar char="–"/>
            </a:pPr>
            <a:r>
              <a:rPr lang="en-US" sz="1800" dirty="0">
                <a:solidFill>
                  <a:srgbClr val="3E4C5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하지만 적절한 영역에서는 정말 효율적이다.</a:t>
            </a:r>
            <a:endParaRPr lang="en-US" sz="1800" dirty="0"/>
          </a:p>
          <a:p>
            <a:pPr marL="203200" indent="-203200">
              <a:lnSpc>
                <a:spcPct val="105000"/>
              </a:lnSpc>
              <a:spcAft>
                <a:spcPts val="1600"/>
              </a:spcAft>
              <a:buSzPct val="100000"/>
              <a:buChar char="–"/>
            </a:pPr>
            <a:r>
              <a:rPr lang="en-US" sz="1800" dirty="0">
                <a:solidFill>
                  <a:srgbClr val="3E4C5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한계를 아는 것이 성공적 활용의 시작이다.</a:t>
            </a:r>
            <a:endParaRPr lang="en-US" sz="18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10972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B728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가능 vs 불가능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41248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F29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무엇이 되고, 무엇이 안 되나</a:t>
            </a:r>
            <a:endParaRPr lang="en-US" sz="2800" dirty="0"/>
          </a:p>
        </p:txBody>
      </p:sp>
      <p:graphicFrame>
        <p:nvGraphicFramePr>
          <p:cNvPr id="1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822960" y="2011680"/>
          <a:ext cx="10515600" cy="914400"/>
        </p:xfrm>
        <a:graphic>
          <a:graphicData uri="http://schemas.openxmlformats.org/drawingml/2006/table">
            <a:tbl>
              <a:tblPr/>
              <a:tblGrid>
                <a:gridCol w="5257800"/>
                <a:gridCol w="5257800"/>
              </a:tblGrid>
              <a:tr h="54864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1F29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할 수 있는 일</a:t>
                      </a:r>
                      <a:endParaRPr lang="en-US" sz="14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27000" marR="127000" marT="76200" marB="7620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1F29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할 수 없는 일</a:t>
                      </a:r>
                      <a:endParaRPr lang="en-US" sz="14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27000" marR="127000" marT="76200" marB="7620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8"/>
                    </a:solidFill>
                  </a:tcPr>
                </a:tc>
              </a:tr>
              <a:tr h="20116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3E4C59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· 데이터 접근·조회 (정형 API, 읽기 중심)</a:t>
                      </a:r>
                      <a:endParaRPr lang="en-US" sz="14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3E4C59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· 자동화·워크플로 (모니터링·알림)</a:t>
                      </a:r>
                      <a:endParaRPr lang="en-US" sz="14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3E4C59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· 정보 통합·분석 (다중 소스·크로스 플랫폼)</a:t>
                      </a:r>
                      <a:endParaRPr lang="en-US" sz="14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27000" marR="127000" marT="76200" marB="7620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3E4C59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· 실시간 스트리밍 (밀리초 응답)</a:t>
                      </a:r>
                      <a:endParaRPr lang="en-US" sz="14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3E4C59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· 상태 의존적 긴 작업 (트랜잭션)</a:t>
                      </a:r>
                      <a:endParaRPr lang="en-US" sz="14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3E4C59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· 고성능 대용량 계산 (네트워크 오버헤드)</a:t>
                      </a:r>
                      <a:endParaRPr lang="en-US" sz="14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27000" marR="127000" marT="76200" marB="7620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822960" y="4937760"/>
            <a:ext cx="10698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7B879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이유: MCP는 요청–응답 패턴 + 네트워크를 거치는 구조이기 때문.</a:t>
            </a:r>
            <a:endParaRPr lang="en-US" sz="15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10972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B728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실전 사례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41248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F29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적합한 일 / 부적합한 일</a:t>
            </a:r>
            <a:endParaRPr lang="en-US" sz="2800" dirty="0"/>
          </a:p>
        </p:txBody>
      </p:sp>
      <p:graphicFrame>
        <p:nvGraphicFramePr>
          <p:cNvPr id="1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822960" y="2011680"/>
          <a:ext cx="10515600" cy="914400"/>
        </p:xfrm>
        <a:graphic>
          <a:graphicData uri="http://schemas.openxmlformats.org/drawingml/2006/table">
            <a:tbl>
              <a:tblPr/>
              <a:tblGrid>
                <a:gridCol w="1737360"/>
                <a:gridCol w="8778240"/>
              </a:tblGrid>
              <a:tr h="12801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1F29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적합 ✅</a:t>
                      </a:r>
                      <a:endParaRPr lang="en-US" sz="14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27000" marR="127000" marT="76200" marB="7620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3E4C59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월간 보고서 자동화 — GitHub·Jira·Slack·Sheets MCP</a:t>
                      </a:r>
                      <a:endParaRPr lang="en-US" sz="14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3E4C59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코드 리뷰 자동화 — GitHub·File System·Playwright MCP</a:t>
                      </a:r>
                      <a:endParaRPr lang="en-US" sz="14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27000" marR="127000" marT="76200" marB="7620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2801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1F29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부적합 ✕</a:t>
                      </a:r>
                      <a:endParaRPr lang="en-US" sz="14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27000" marR="127000" marT="76200" marB="7620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3E4C59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실시간 주식 거래 — 지연·규제·책임 소재 문제</a:t>
                      </a:r>
                      <a:endParaRPr lang="en-US" sz="14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3E4C59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대용량 비디오 처리 — 메모리·대역폭 한계</a:t>
                      </a:r>
                      <a:endParaRPr lang="en-US" sz="14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27000" marR="127000" marT="76200" marB="7620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5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10972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B728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PART 4 · 보안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41248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F29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MCP 사용 시 보안 위협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822960" y="1920240"/>
            <a:ext cx="10698480" cy="3200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203200" indent="-203200">
              <a:lnSpc>
                <a:spcPct val="105000"/>
              </a:lnSpc>
              <a:spcAft>
                <a:spcPts val="1300"/>
              </a:spcAft>
              <a:buSzPct val="100000"/>
              <a:buChar char="–"/>
            </a:pPr>
            <a:r>
              <a:rPr lang="en-US" sz="1600" dirty="0">
                <a:solidFill>
                  <a:srgbClr val="3E4C5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민감한 데이터 노출 — 고객 정보·내부 문서·운영 로그 유출 가능성.</a:t>
            </a:r>
            <a:endParaRPr lang="en-US" sz="1600" dirty="0"/>
          </a:p>
          <a:p>
            <a:pPr marL="203200" indent="-203200">
              <a:lnSpc>
                <a:spcPct val="105000"/>
              </a:lnSpc>
              <a:spcAft>
                <a:spcPts val="1300"/>
              </a:spcAft>
              <a:buSzPct val="100000"/>
              <a:buChar char="–"/>
            </a:pPr>
            <a:r>
              <a:rPr lang="en-US" sz="1600" dirty="0">
                <a:solidFill>
                  <a:srgbClr val="3E4C5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무단 명령 실행 — 인증되지 않은 사용자가 임의 명령을 실행하는 취약점.</a:t>
            </a:r>
            <a:endParaRPr lang="en-US" sz="1600" dirty="0"/>
          </a:p>
          <a:p>
            <a:pPr marL="203200" indent="-203200">
              <a:lnSpc>
                <a:spcPct val="105000"/>
              </a:lnSpc>
              <a:spcAft>
                <a:spcPts val="1300"/>
              </a:spcAft>
              <a:buSzPct val="100000"/>
              <a:buChar char="–"/>
            </a:pPr>
            <a:r>
              <a:rPr lang="en-US" sz="1600" dirty="0">
                <a:solidFill>
                  <a:srgbClr val="3E4C5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API 키·인증 토큰 탈취 — 키 유출로 비용 청구 또는 데이터 유실.</a:t>
            </a:r>
            <a:endParaRPr lang="en-US" sz="1600" dirty="0"/>
          </a:p>
          <a:p>
            <a:pPr marL="203200" indent="-203200">
              <a:lnSpc>
                <a:spcPct val="105000"/>
              </a:lnSpc>
              <a:spcAft>
                <a:spcPts val="1300"/>
              </a:spcAft>
              <a:buSzPct val="100000"/>
              <a:buChar char="–"/>
            </a:pPr>
            <a:r>
              <a:rPr lang="en-US" sz="1600" dirty="0">
                <a:solidFill>
                  <a:srgbClr val="3E4C5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운영 시스템 침해 — 백도어 설치·리소스 오용으로 시스템 전체 위협.</a:t>
            </a:r>
            <a:endParaRPr lang="en-US" sz="16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10972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B728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인증 전략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41248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F29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키·토큰 관리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822960" y="1920240"/>
            <a:ext cx="10698480" cy="3200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203200" indent="-203200">
              <a:lnSpc>
                <a:spcPct val="105000"/>
              </a:lnSpc>
              <a:spcAft>
                <a:spcPts val="1500"/>
              </a:spcAft>
              <a:buSzPct val="100000"/>
              <a:buChar char="–"/>
            </a:pPr>
            <a:r>
              <a:rPr lang="en-US" sz="1600" dirty="0">
                <a:solidFill>
                  <a:srgbClr val="3E4C5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API 키·비밀키는 코드에 직접 쓰지 않고 .env 파일에 분리한다.</a:t>
            </a:r>
            <a:endParaRPr lang="en-US" sz="1600" dirty="0"/>
          </a:p>
          <a:p>
            <a:pPr marL="203200" indent="-203200">
              <a:lnSpc>
                <a:spcPct val="105000"/>
              </a:lnSpc>
              <a:spcAft>
                <a:spcPts val="1500"/>
              </a:spcAft>
              <a:buSzPct val="100000"/>
              <a:buChar char="–"/>
            </a:pPr>
            <a:r>
              <a:rPr lang="en-US" sz="1600" dirty="0">
                <a:solidFill>
                  <a:srgbClr val="3E4C5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.env는 .gitignore에 넣어 Git 등 버전 관리에 올라가지 않게 한다.</a:t>
            </a:r>
            <a:endParaRPr lang="en-US" sz="1600" dirty="0"/>
          </a:p>
          <a:p>
            <a:pPr marL="203200" indent="-203200">
              <a:lnSpc>
                <a:spcPct val="105000"/>
              </a:lnSpc>
              <a:spcAft>
                <a:spcPts val="1500"/>
              </a:spcAft>
              <a:buSzPct val="100000"/>
              <a:buChar char="–"/>
            </a:pPr>
            <a:r>
              <a:rPr lang="en-US" sz="1600" dirty="0">
                <a:solidFill>
                  <a:srgbClr val="3E4C5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환경 변수 로딩 실패 시 안전한 기본값 제공 또는 예외 처리로 서비스 중단을 막는다.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822960" y="4572000"/>
            <a:ext cx="10698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B728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★ 우리 실습에서도 cli_project의 .env를 .gitignore로 제외했다.</a:t>
            </a:r>
            <a:endParaRPr lang="en-US" sz="15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10972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B728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권한 관리 (AUTHORIZATION)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41248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F29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최소 권한 원칙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822960" y="1920240"/>
            <a:ext cx="10698480" cy="3200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203200" indent="-203200">
              <a:lnSpc>
                <a:spcPct val="105000"/>
              </a:lnSpc>
              <a:spcAft>
                <a:spcPts val="1200"/>
              </a:spcAft>
              <a:buSzPct val="100000"/>
              <a:buChar char="–"/>
            </a:pPr>
            <a:r>
              <a:rPr lang="en-US" sz="1550" dirty="0">
                <a:solidFill>
                  <a:srgbClr val="3E4C5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최소 권한: 파일시스템=읽기전용+특정 디렉토리, DB=SELECT 전용 계정, API=읽기 키 우선.</a:t>
            </a:r>
            <a:endParaRPr lang="en-US" sz="1550" dirty="0"/>
          </a:p>
          <a:p>
            <a:pPr marL="203200" indent="-203200">
              <a:lnSpc>
                <a:spcPct val="105000"/>
              </a:lnSpc>
              <a:spcAft>
                <a:spcPts val="1200"/>
              </a:spcAft>
              <a:buSzPct val="100000"/>
              <a:buChar char="–"/>
            </a:pPr>
            <a:r>
              <a:rPr lang="en-US" sz="1550" dirty="0">
                <a:solidFill>
                  <a:srgbClr val="3E4C5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실행 명령 필터링: 허용 명령만 화이트리스트로 등록, 입력값 검증(SQL·쉘 인젝션 방지).</a:t>
            </a:r>
            <a:endParaRPr lang="en-US" sz="1550" dirty="0"/>
          </a:p>
          <a:p>
            <a:pPr marL="203200" indent="-203200">
              <a:lnSpc>
                <a:spcPct val="105000"/>
              </a:lnSpc>
              <a:spcAft>
                <a:spcPts val="1200"/>
              </a:spcAft>
              <a:buSzPct val="100000"/>
              <a:buChar char="–"/>
            </a:pPr>
            <a:r>
              <a:rPr lang="en-US" sz="1550" dirty="0">
                <a:solidFill>
                  <a:srgbClr val="3E4C5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접근 제어: 사용자 유형별 기능 제한, JWT·OAuth2·세션 인증.</a:t>
            </a:r>
            <a:endParaRPr lang="en-US" sz="1550" dirty="0"/>
          </a:p>
          <a:p>
            <a:pPr marL="203200" indent="-203200">
              <a:lnSpc>
                <a:spcPct val="105000"/>
              </a:lnSpc>
              <a:spcAft>
                <a:spcPts val="1200"/>
              </a:spcAft>
              <a:buSzPct val="100000"/>
              <a:buChar char="–"/>
            </a:pPr>
            <a:r>
              <a:rPr lang="en-US" sz="1550" dirty="0">
                <a:solidFill>
                  <a:srgbClr val="3E4C5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인증 실패 처리: 일반화된 오류 메시지, 반복 실패 시 잠금·차단, 모든 실패 로그 기록.</a:t>
            </a:r>
            <a:endParaRPr lang="en-US" sz="155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5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10972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B728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정리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41248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F29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한 장 요약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822960" y="1828800"/>
            <a:ext cx="10698480" cy="3200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203200" indent="-203200">
              <a:lnSpc>
                <a:spcPct val="105000"/>
              </a:lnSpc>
              <a:spcAft>
                <a:spcPts val="1200"/>
              </a:spcAft>
              <a:buSzPct val="100000"/>
              <a:buChar char="–"/>
            </a:pPr>
            <a:r>
              <a:rPr lang="en-US" sz="1600" dirty="0">
                <a:solidFill>
                  <a:srgbClr val="3E4C5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MCP = AI를 외부 도구·데이터에 잇는 개방형 표준 ("AI의 USB-C").</a:t>
            </a:r>
            <a:endParaRPr lang="en-US" sz="1600" dirty="0"/>
          </a:p>
          <a:p>
            <a:pPr marL="203200" indent="-203200">
              <a:lnSpc>
                <a:spcPct val="105000"/>
              </a:lnSpc>
              <a:spcAft>
                <a:spcPts val="1200"/>
              </a:spcAft>
              <a:buSzPct val="100000"/>
              <a:buChar char="–"/>
            </a:pPr>
            <a:r>
              <a:rPr lang="en-US" sz="1600" dirty="0">
                <a:solidFill>
                  <a:srgbClr val="3E4C5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3요소: Host(지휘관) · Client(중개자) · Server(도구 제공).</a:t>
            </a:r>
            <a:endParaRPr lang="en-US" sz="1600" dirty="0"/>
          </a:p>
          <a:p>
            <a:pPr marL="203200" indent="-203200">
              <a:lnSpc>
                <a:spcPct val="105000"/>
              </a:lnSpc>
              <a:spcAft>
                <a:spcPts val="1200"/>
              </a:spcAft>
              <a:buSzPct val="100000"/>
              <a:buChar char="–"/>
            </a:pPr>
            <a:r>
              <a:rPr lang="en-US" sz="1600" dirty="0">
                <a:solidFill>
                  <a:srgbClr val="3E4C5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전송 방식: stdio(로컬) · Streamable HTTP(원격).</a:t>
            </a:r>
            <a:endParaRPr lang="en-US" sz="1600" dirty="0"/>
          </a:p>
          <a:p>
            <a:pPr marL="203200" indent="-203200">
              <a:lnSpc>
                <a:spcPct val="105000"/>
              </a:lnSpc>
              <a:spcAft>
                <a:spcPts val="1200"/>
              </a:spcAft>
              <a:buSzPct val="100000"/>
              <a:buChar char="–"/>
            </a:pPr>
            <a:r>
              <a:rPr lang="en-US" sz="1600" dirty="0">
                <a:solidFill>
                  <a:srgbClr val="3E4C5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서버 기능: Tools · Resources · Prompts.</a:t>
            </a:r>
            <a:endParaRPr lang="en-US" sz="1600" dirty="0"/>
          </a:p>
          <a:p>
            <a:pPr marL="203200" indent="-203200">
              <a:lnSpc>
                <a:spcPct val="105000"/>
              </a:lnSpc>
              <a:spcAft>
                <a:spcPts val="1200"/>
              </a:spcAft>
              <a:buSzPct val="100000"/>
              <a:buChar char="–"/>
            </a:pPr>
            <a:r>
              <a:rPr lang="en-US" sz="1600" dirty="0">
                <a:solidFill>
                  <a:srgbClr val="3E4C5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만능은 아님 — 요청/응답에 맞는 영역에서 강력하며, 키·권한 등 보안이 필수.</a:t>
            </a:r>
            <a:endParaRPr lang="en-US" sz="16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19</Slides>
  <Notes>19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19</vt:i4>
      </vt:variant>
    </vt:vector>
  </HeadingPairs>
  <TitlesOfParts>
    <vt:vector size="2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MCP 핵심 정리</dc:title>
  <dc:subject>PptxGenJS Presentation</dc:subject>
  <dc:creator>AI Study</dc:creator>
  <cp:lastModifiedBy>AI Study</cp:lastModifiedBy>
  <cp:revision>1</cp:revision>
  <dcterms:created xsi:type="dcterms:W3CDTF">2026-07-05T12:43:04Z</dcterms:created>
  <dcterms:modified xsi:type="dcterms:W3CDTF">2026-07-05T12:43:04Z</dcterms:modified>
</cp:coreProperties>
</file>